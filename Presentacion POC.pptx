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8.svg" ContentType="image/svg"/>
  <Override PartName="/ppt/media/image3.svg" ContentType="image/svg"/>
  <Override PartName="/ppt/media/image10.svg" ContentType="image/svg"/>
  <Override PartName="/ppt/media/image12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7559675" cy="10691813"/>
  <p:embeddedFontLst>
    <p:embeddedFont>
      <p:font typeface="Open Sauce Bold"/>
    </p:embeddedFont>
    <p:embeddedFont>
      <p:font typeface="Open Sauce"/>
      <p:regular r:id="rId11"/>
      <p:bold r:id="rId11"/>
    </p:embeddedFont>
    <p:embeddedFont>
      <p:font typeface="DM Serif Display"/>
      <p:regular r:id="rId12"/>
      <p:bold r:id="rId12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font" Target="fonts/Font_1_Open_Sauce_Regular.fntdata"/><Relationship Id="rId12" Type="http://schemas.openxmlformats.org/officeDocument/2006/relationships/font" Target="fonts/Font_2_DM_Serif_Display_Regular.fntdata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CA6DB8-7286-4FE3-9AB9-EC94068D64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822722-873E-459D-9D5D-1388F2CE18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dos veces para añadir una imagen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B76228-19AB-4638-9627-180BD92D7E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6CE09E-8D2F-4DFB-84BA-A1722082C0F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17332F-65DE-4EF7-98B2-3B72EF8C3E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7E99E6-B632-4C51-B1AA-4439F67DDB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F1D69A-2C4F-4B76-B274-4CC503243E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46DEC8D-1881-4BDA-AF67-6E58F938DA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F723F3-4E44-4B70-AFE4-B58EECA3AB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E8A30EB-A7CC-4E89-A165-520A3A8A04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4B3622-BBF7-4EE1-9BF7-B5F55EEAE4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/>
          <p:cNvSpPr/>
          <p:nvPr/>
        </p:nvSpPr>
        <p:spPr>
          <a:xfrm>
            <a:off x="2844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Freeform 3"/>
          <p:cNvSpPr/>
          <p:nvPr/>
        </p:nvSpPr>
        <p:spPr>
          <a:xfrm>
            <a:off x="7377120" y="775080"/>
            <a:ext cx="3533040" cy="3533040"/>
          </a:xfrm>
          <a:custGeom>
            <a:avLst/>
            <a:gdLst>
              <a:gd name="textAreaLeft" fmla="*/ 0 w 3533040"/>
              <a:gd name="textAreaRight" fmla="*/ 3533760 w 3533040"/>
              <a:gd name="textAreaTop" fmla="*/ 0 h 3533040"/>
              <a:gd name="textAreaBottom" fmla="*/ 3533760 h 3533040"/>
            </a:gdLst>
            <a:ahLst/>
            <a:cxnLst/>
            <a:rect l="textAreaLeft" t="textAreaTop" r="textAreaRight" b="textAreaBottom"/>
            <a:pathLst>
              <a:path w="3533614" h="3533614">
                <a:moveTo>
                  <a:pt x="0" y="0"/>
                </a:moveTo>
                <a:lnTo>
                  <a:pt x="3533614" y="0"/>
                </a:lnTo>
                <a:lnTo>
                  <a:pt x="3533614" y="3533614"/>
                </a:lnTo>
                <a:lnTo>
                  <a:pt x="0" y="353361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4"/>
          <p:cNvSpPr/>
          <p:nvPr/>
        </p:nvSpPr>
        <p:spPr>
          <a:xfrm>
            <a:off x="4413240" y="3618720"/>
            <a:ext cx="9460800" cy="24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0160"/>
              </a:lnSpc>
            </a:pPr>
            <a:r>
              <a:rPr lang="en-US" sz="14400" b="0" u="none" strike="noStrike">
                <a:solidFill>
                  <a:srgbClr val="000000"/>
                </a:solidFill>
                <a:effectLst/>
                <a:uFillTx/>
                <a:latin typeface="DM Serif Display"/>
                <a:ea typeface="DM Serif Display"/>
              </a:rPr>
              <a:t>AstroImage</a:t>
            </a:r>
            <a:endParaRPr lang="es-AR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4180680" y="6325920"/>
            <a:ext cx="9926280" cy="82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359"/>
              </a:lnSpc>
            </a:pPr>
            <a:r>
              <a:rPr lang="en-US" sz="2400" b="0" u="none" spc="241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APLICACIÓN DIDÁCTICA PARA VISUALIZACIÓN DE CUERPOS CELESTES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7424280" y="8528760"/>
            <a:ext cx="3438720" cy="10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479"/>
              </a:lnSpc>
            </a:pPr>
            <a:r>
              <a:rPr lang="en-US" sz="320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DM Serif Display"/>
                <a:ea typeface="DM Serif Display"/>
              </a:rPr>
              <a:t>Agüero Mauro y Agüero Fernando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8174520" y="2532960"/>
            <a:ext cx="8307000" cy="11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479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Las apliaciones de visualización de .fits no son accesibles para principiantes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" name="Group 4"/>
          <p:cNvGrpSpPr/>
          <p:nvPr/>
        </p:nvGrpSpPr>
        <p:grpSpPr>
          <a:xfrm>
            <a:off x="6783120" y="2674440"/>
            <a:ext cx="909360" cy="909360"/>
            <a:chOff x="6783120" y="2674440"/>
            <a:chExt cx="909360" cy="909360"/>
          </a:xfrm>
        </p:grpSpPr>
        <p:sp>
          <p:nvSpPr>
            <p:cNvPr id="69" name="Freeform 5"/>
            <p:cNvSpPr/>
            <p:nvPr/>
          </p:nvSpPr>
          <p:spPr>
            <a:xfrm>
              <a:off x="6783120" y="2674440"/>
              <a:ext cx="909360" cy="909360"/>
            </a:xfrm>
            <a:custGeom>
              <a:avLst/>
              <a:gdLst>
                <a:gd name="textAreaLeft" fmla="*/ 0 w 909360"/>
                <a:gd name="textAreaRight" fmla="*/ 910080 w 909360"/>
                <a:gd name="textAreaTop" fmla="*/ 0 h 909360"/>
                <a:gd name="textAreaBottom" fmla="*/ 910080 h 9093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TextBox 6"/>
            <p:cNvSpPr/>
            <p:nvPr/>
          </p:nvSpPr>
          <p:spPr>
            <a:xfrm>
              <a:off x="6868440" y="2706480"/>
              <a:ext cx="738720" cy="79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1" name="TextBox 7"/>
          <p:cNvSpPr/>
          <p:nvPr/>
        </p:nvSpPr>
        <p:spPr>
          <a:xfrm>
            <a:off x="6810840" y="2772360"/>
            <a:ext cx="81648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1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Open Sauce Bold"/>
                <a:ea typeface="Open Sauce Bold"/>
              </a:rPr>
              <a:t>1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8174520" y="4537800"/>
            <a:ext cx="8307000" cy="11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479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Se requiere conocimiento previo para poder operar 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3" name="Group 9"/>
          <p:cNvGrpSpPr/>
          <p:nvPr/>
        </p:nvGrpSpPr>
        <p:grpSpPr>
          <a:xfrm>
            <a:off x="6783120" y="4678920"/>
            <a:ext cx="909360" cy="909360"/>
            <a:chOff x="6783120" y="4678920"/>
            <a:chExt cx="909360" cy="909360"/>
          </a:xfrm>
        </p:grpSpPr>
        <p:sp>
          <p:nvSpPr>
            <p:cNvPr id="74" name="Freeform 10"/>
            <p:cNvSpPr/>
            <p:nvPr/>
          </p:nvSpPr>
          <p:spPr>
            <a:xfrm>
              <a:off x="6783120" y="4678920"/>
              <a:ext cx="909360" cy="909360"/>
            </a:xfrm>
            <a:custGeom>
              <a:avLst/>
              <a:gdLst>
                <a:gd name="textAreaLeft" fmla="*/ 0 w 909360"/>
                <a:gd name="textAreaRight" fmla="*/ 910080 w 909360"/>
                <a:gd name="textAreaTop" fmla="*/ 0 h 909360"/>
                <a:gd name="textAreaBottom" fmla="*/ 910080 h 9093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11"/>
            <p:cNvSpPr/>
            <p:nvPr/>
          </p:nvSpPr>
          <p:spPr>
            <a:xfrm>
              <a:off x="6868440" y="4710960"/>
              <a:ext cx="738720" cy="79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6" name="TextBox 12"/>
          <p:cNvSpPr/>
          <p:nvPr/>
        </p:nvSpPr>
        <p:spPr>
          <a:xfrm>
            <a:off x="6820200" y="4777200"/>
            <a:ext cx="81648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1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Open Sauce Bold"/>
                <a:ea typeface="Open Sauce Bold"/>
              </a:rPr>
              <a:t>2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3"/>
          <p:cNvSpPr/>
          <p:nvPr/>
        </p:nvSpPr>
        <p:spPr>
          <a:xfrm>
            <a:off x="8174520" y="6543720"/>
            <a:ext cx="83070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479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Solo sirven para visualizar imagenes y no dan información de su contenido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8" name="Group 14"/>
          <p:cNvGrpSpPr/>
          <p:nvPr/>
        </p:nvGrpSpPr>
        <p:grpSpPr>
          <a:xfrm>
            <a:off x="6783120" y="6684840"/>
            <a:ext cx="909360" cy="909360"/>
            <a:chOff x="6783120" y="6684840"/>
            <a:chExt cx="909360" cy="909360"/>
          </a:xfrm>
        </p:grpSpPr>
        <p:sp>
          <p:nvSpPr>
            <p:cNvPr id="79" name="Freeform 15"/>
            <p:cNvSpPr/>
            <p:nvPr/>
          </p:nvSpPr>
          <p:spPr>
            <a:xfrm>
              <a:off x="6783120" y="6684840"/>
              <a:ext cx="909360" cy="909360"/>
            </a:xfrm>
            <a:custGeom>
              <a:avLst/>
              <a:gdLst>
                <a:gd name="textAreaLeft" fmla="*/ 0 w 909360"/>
                <a:gd name="textAreaRight" fmla="*/ 910080 w 909360"/>
                <a:gd name="textAreaTop" fmla="*/ 0 h 909360"/>
                <a:gd name="textAreaBottom" fmla="*/ 910080 h 90936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Box 16"/>
            <p:cNvSpPr/>
            <p:nvPr/>
          </p:nvSpPr>
          <p:spPr>
            <a:xfrm>
              <a:off x="6868440" y="6716880"/>
              <a:ext cx="738720" cy="79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81" name="TextBox 17"/>
          <p:cNvSpPr/>
          <p:nvPr/>
        </p:nvSpPr>
        <p:spPr>
          <a:xfrm>
            <a:off x="6810840" y="6783120"/>
            <a:ext cx="81648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511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Open Sauce Bold"/>
                <a:ea typeface="Open Sauce Bold"/>
              </a:rPr>
              <a:t>3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8"/>
          <p:cNvSpPr/>
          <p:nvPr/>
        </p:nvSpPr>
        <p:spPr>
          <a:xfrm>
            <a:off x="1166400" y="1233720"/>
            <a:ext cx="3822120" cy="10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8960"/>
              </a:lnSpc>
            </a:pPr>
            <a:r>
              <a:rPr lang="en-US" sz="6400" b="0" u="none" strike="noStrike">
                <a:solidFill>
                  <a:srgbClr val="000000"/>
                </a:solidFill>
                <a:effectLst/>
                <a:uFillTx/>
                <a:latin typeface="DM Serif Display"/>
                <a:ea typeface="DM Serif Display"/>
              </a:rPr>
              <a:t>Problema</a:t>
            </a:r>
            <a:endParaRPr lang="es-AR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AutoShape 19"/>
          <p:cNvSpPr/>
          <p:nvPr/>
        </p:nvSpPr>
        <p:spPr>
          <a:xfrm>
            <a:off x="1166040" y="1028520"/>
            <a:ext cx="687600" cy="360"/>
          </a:xfrm>
          <a:prstGeom prst="line">
            <a:avLst/>
          </a:prstGeom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1166040" y="1028520"/>
            <a:ext cx="687600" cy="360"/>
          </a:xfrm>
          <a:prstGeom prst="line">
            <a:avLst/>
          </a:prstGeom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Freeform 4"/>
          <p:cNvSpPr/>
          <p:nvPr/>
        </p:nvSpPr>
        <p:spPr>
          <a:xfrm>
            <a:off x="828720" y="2940480"/>
            <a:ext cx="7313400" cy="5617800"/>
          </a:xfrm>
          <a:custGeom>
            <a:avLst/>
            <a:gdLst>
              <a:gd name="textAreaLeft" fmla="*/ 0 w 7313400"/>
              <a:gd name="textAreaRight" fmla="*/ 7314120 w 7313400"/>
              <a:gd name="textAreaTop" fmla="*/ 0 h 5617800"/>
              <a:gd name="textAreaBottom" fmla="*/ 5618520 h 5617800"/>
            </a:gdLst>
            <a:ahLst/>
            <a:cxnLst/>
            <a:rect l="textAreaLeft" t="textAreaTop" r="textAreaRight" b="textAreaBottom"/>
            <a:pathLst>
              <a:path w="7314138" h="5618473">
                <a:moveTo>
                  <a:pt x="0" y="0"/>
                </a:moveTo>
                <a:lnTo>
                  <a:pt x="7314138" y="0"/>
                </a:lnTo>
                <a:lnTo>
                  <a:pt x="7314138" y="5618473"/>
                </a:lnTo>
                <a:lnTo>
                  <a:pt x="0" y="56184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Freeform 5"/>
          <p:cNvSpPr/>
          <p:nvPr/>
        </p:nvSpPr>
        <p:spPr>
          <a:xfrm>
            <a:off x="8790840" y="2940480"/>
            <a:ext cx="7313400" cy="5617800"/>
          </a:xfrm>
          <a:custGeom>
            <a:avLst/>
            <a:gdLst>
              <a:gd name="textAreaLeft" fmla="*/ 0 w 7313400"/>
              <a:gd name="textAreaRight" fmla="*/ 7314120 w 7313400"/>
              <a:gd name="textAreaTop" fmla="*/ 0 h 5617800"/>
              <a:gd name="textAreaBottom" fmla="*/ 5618520 h 5617800"/>
            </a:gdLst>
            <a:ahLst/>
            <a:cxnLst/>
            <a:rect l="textAreaLeft" t="textAreaTop" r="textAreaRight" b="textAreaBottom"/>
            <a:pathLst>
              <a:path w="7314138" h="5618473">
                <a:moveTo>
                  <a:pt x="0" y="0"/>
                </a:moveTo>
                <a:lnTo>
                  <a:pt x="7314138" y="0"/>
                </a:lnTo>
                <a:lnTo>
                  <a:pt x="7314138" y="5618473"/>
                </a:lnTo>
                <a:lnTo>
                  <a:pt x="0" y="561847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6"/>
          <p:cNvSpPr/>
          <p:nvPr/>
        </p:nvSpPr>
        <p:spPr>
          <a:xfrm>
            <a:off x="1166400" y="1233720"/>
            <a:ext cx="10398600" cy="10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8960"/>
              </a:lnSpc>
            </a:pPr>
            <a:r>
              <a:rPr lang="en-US" sz="6400" b="0" u="none" strike="noStrike">
                <a:solidFill>
                  <a:srgbClr val="000000"/>
                </a:solidFill>
                <a:effectLst/>
                <a:uFillTx/>
                <a:latin typeface="DM Serif Display"/>
                <a:ea typeface="DM Serif Display"/>
              </a:rPr>
              <a:t>Otras alternativas</a:t>
            </a:r>
            <a:endParaRPr lang="es-AR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0" name="Group 3"/>
          <p:cNvGrpSpPr/>
          <p:nvPr/>
        </p:nvGrpSpPr>
        <p:grpSpPr>
          <a:xfrm>
            <a:off x="1166400" y="3437640"/>
            <a:ext cx="5025960" cy="5079240"/>
            <a:chOff x="1166400" y="3437640"/>
            <a:chExt cx="5025960" cy="5079240"/>
          </a:xfrm>
        </p:grpSpPr>
        <p:sp>
          <p:nvSpPr>
            <p:cNvPr id="91" name="Freeform 4"/>
            <p:cNvSpPr/>
            <p:nvPr/>
          </p:nvSpPr>
          <p:spPr>
            <a:xfrm>
              <a:off x="1166400" y="3490920"/>
              <a:ext cx="5025960" cy="5025960"/>
            </a:xfrm>
            <a:custGeom>
              <a:avLst/>
              <a:gdLst>
                <a:gd name="textAreaLeft" fmla="*/ 0 w 5025960"/>
                <a:gd name="textAreaRight" fmla="*/ 5026680 w 5025960"/>
                <a:gd name="textAreaTop" fmla="*/ 0 h 5025960"/>
                <a:gd name="textAreaBottom" fmla="*/ 5026680 h 5025960"/>
              </a:gdLst>
              <a:ahLst/>
              <a:cxnLst/>
              <a:rect l="textAreaLeft" t="textAreaTop" r="textAreaRight" b="textAreaBottom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 cap="sq" w="28575">
              <a:solidFill>
                <a:srgbClr val="000000">
                  <a:alpha val="50000"/>
                </a:srgb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TextBox 5"/>
            <p:cNvSpPr/>
            <p:nvPr/>
          </p:nvSpPr>
          <p:spPr>
            <a:xfrm>
              <a:off x="1166400" y="3437640"/>
              <a:ext cx="5025960" cy="507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3" name="AutoShape 6"/>
          <p:cNvSpPr/>
          <p:nvPr/>
        </p:nvSpPr>
        <p:spPr>
          <a:xfrm>
            <a:off x="1166040" y="1028520"/>
            <a:ext cx="687600" cy="360"/>
          </a:xfrm>
          <a:prstGeom prst="line">
            <a:avLst/>
          </a:prstGeom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4" name="Group 7"/>
          <p:cNvGrpSpPr/>
          <p:nvPr/>
        </p:nvGrpSpPr>
        <p:grpSpPr>
          <a:xfrm>
            <a:off x="6630840" y="3437640"/>
            <a:ext cx="5025960" cy="5079240"/>
            <a:chOff x="6630840" y="3437640"/>
            <a:chExt cx="5025960" cy="5079240"/>
          </a:xfrm>
        </p:grpSpPr>
        <p:sp>
          <p:nvSpPr>
            <p:cNvPr id="95" name="Freeform 8"/>
            <p:cNvSpPr/>
            <p:nvPr/>
          </p:nvSpPr>
          <p:spPr>
            <a:xfrm>
              <a:off x="6630840" y="3490920"/>
              <a:ext cx="5025960" cy="5025960"/>
            </a:xfrm>
            <a:custGeom>
              <a:avLst/>
              <a:gdLst>
                <a:gd name="textAreaLeft" fmla="*/ 0 w 5025960"/>
                <a:gd name="textAreaRight" fmla="*/ 5026680 w 5025960"/>
                <a:gd name="textAreaTop" fmla="*/ 0 h 5025960"/>
                <a:gd name="textAreaBottom" fmla="*/ 5026680 h 5025960"/>
              </a:gdLst>
              <a:ahLst/>
              <a:cxnLst/>
              <a:rect l="textAreaLeft" t="textAreaTop" r="textAreaRight" b="textAreaBottom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 cap="sq" w="28575">
              <a:solidFill>
                <a:srgbClr val="000000">
                  <a:alpha val="50000"/>
                </a:srgb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TextBox 9"/>
            <p:cNvSpPr/>
            <p:nvPr/>
          </p:nvSpPr>
          <p:spPr>
            <a:xfrm>
              <a:off x="6630840" y="3437640"/>
              <a:ext cx="5025960" cy="507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97" name="Group 10"/>
          <p:cNvGrpSpPr/>
          <p:nvPr/>
        </p:nvGrpSpPr>
        <p:grpSpPr>
          <a:xfrm>
            <a:off x="12094920" y="3437640"/>
            <a:ext cx="5025960" cy="5079240"/>
            <a:chOff x="12094920" y="3437640"/>
            <a:chExt cx="5025960" cy="5079240"/>
          </a:xfrm>
        </p:grpSpPr>
        <p:sp>
          <p:nvSpPr>
            <p:cNvPr id="98" name="Freeform 11"/>
            <p:cNvSpPr/>
            <p:nvPr/>
          </p:nvSpPr>
          <p:spPr>
            <a:xfrm>
              <a:off x="12094920" y="3490920"/>
              <a:ext cx="5025960" cy="5025960"/>
            </a:xfrm>
            <a:custGeom>
              <a:avLst/>
              <a:gdLst>
                <a:gd name="textAreaLeft" fmla="*/ 0 w 5025960"/>
                <a:gd name="textAreaRight" fmla="*/ 5026680 w 5025960"/>
                <a:gd name="textAreaTop" fmla="*/ 0 h 5025960"/>
                <a:gd name="textAreaBottom" fmla="*/ 5026680 h 5025960"/>
              </a:gdLst>
              <a:ahLst/>
              <a:cxnLst/>
              <a:rect l="textAreaLeft" t="textAreaTop" r="textAreaRight" b="textAreaBottom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 cap="sq" w="28575">
              <a:solidFill>
                <a:srgbClr val="000000">
                  <a:alpha val="50000"/>
                </a:srgb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TextBox 12"/>
            <p:cNvSpPr/>
            <p:nvPr/>
          </p:nvSpPr>
          <p:spPr>
            <a:xfrm>
              <a:off x="12094920" y="3437640"/>
              <a:ext cx="5025960" cy="507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pPr/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0" name="Freeform 13"/>
          <p:cNvSpPr/>
          <p:nvPr/>
        </p:nvSpPr>
        <p:spPr>
          <a:xfrm>
            <a:off x="8567280" y="4318560"/>
            <a:ext cx="1152720" cy="1214640"/>
          </a:xfrm>
          <a:custGeom>
            <a:avLst/>
            <a:gdLst>
              <a:gd name="textAreaLeft" fmla="*/ 0 w 1152720"/>
              <a:gd name="textAreaRight" fmla="*/ 1153440 w 1152720"/>
              <a:gd name="textAreaTop" fmla="*/ 0 h 1214640"/>
              <a:gd name="textAreaBottom" fmla="*/ 1215360 h 1214640"/>
            </a:gdLst>
            <a:ahLst/>
            <a:cxnLst/>
            <a:rect l="textAreaLeft" t="textAreaTop" r="textAreaRight" b="textAreaBottom"/>
            <a:pathLst>
              <a:path w="1153465" h="1215337">
                <a:moveTo>
                  <a:pt x="0" y="0"/>
                </a:moveTo>
                <a:lnTo>
                  <a:pt x="1153466" y="0"/>
                </a:lnTo>
                <a:lnTo>
                  <a:pt x="1153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Freeform 14"/>
          <p:cNvSpPr/>
          <p:nvPr/>
        </p:nvSpPr>
        <p:spPr>
          <a:xfrm>
            <a:off x="13971960" y="4238280"/>
            <a:ext cx="1272240" cy="1375200"/>
          </a:xfrm>
          <a:custGeom>
            <a:avLst/>
            <a:gdLst>
              <a:gd name="textAreaLeft" fmla="*/ 0 w 1272240"/>
              <a:gd name="textAreaRight" fmla="*/ 1272960 w 1272240"/>
              <a:gd name="textAreaTop" fmla="*/ 0 h 1375200"/>
              <a:gd name="textAreaBottom" fmla="*/ 1375920 h 1375200"/>
            </a:gdLst>
            <a:ahLst/>
            <a:cxnLst/>
            <a:rect l="textAreaLeft" t="textAreaTop" r="textAreaRight" b="textAreaBottom"/>
            <a:pathLst>
              <a:path w="1272873" h="1376079">
                <a:moveTo>
                  <a:pt x="0" y="0"/>
                </a:moveTo>
                <a:lnTo>
                  <a:pt x="1272874" y="0"/>
                </a:lnTo>
                <a:lnTo>
                  <a:pt x="1272874" y="1376079"/>
                </a:lnTo>
                <a:lnTo>
                  <a:pt x="0" y="1376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Freeform 15"/>
          <p:cNvSpPr/>
          <p:nvPr/>
        </p:nvSpPr>
        <p:spPr>
          <a:xfrm>
            <a:off x="2872800" y="4151520"/>
            <a:ext cx="1613520" cy="1548720"/>
          </a:xfrm>
          <a:custGeom>
            <a:avLst/>
            <a:gdLst>
              <a:gd name="textAreaLeft" fmla="*/ 0 w 1613520"/>
              <a:gd name="textAreaRight" fmla="*/ 1614240 w 1613520"/>
              <a:gd name="textAreaTop" fmla="*/ 0 h 1548720"/>
              <a:gd name="textAreaBottom" fmla="*/ 1549440 h 1548720"/>
            </a:gdLst>
            <a:ahLst/>
            <a:cxnLst/>
            <a:rect l="textAreaLeft" t="textAreaTop" r="textAreaRight" b="textAreaBottom"/>
            <a:pathLst>
              <a:path w="1614097" h="1549533">
                <a:moveTo>
                  <a:pt x="0" y="0"/>
                </a:moveTo>
                <a:lnTo>
                  <a:pt x="1614096" y="0"/>
                </a:lnTo>
                <a:lnTo>
                  <a:pt x="1614096" y="1549533"/>
                </a:lnTo>
                <a:lnTo>
                  <a:pt x="0" y="154953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6"/>
          <p:cNvSpPr/>
          <p:nvPr/>
        </p:nvSpPr>
        <p:spPr>
          <a:xfrm>
            <a:off x="1166400" y="1233720"/>
            <a:ext cx="3822120" cy="10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8960"/>
              </a:lnSpc>
            </a:pPr>
            <a:r>
              <a:rPr lang="en-US" sz="6400" b="0" u="none" strike="noStrike">
                <a:solidFill>
                  <a:srgbClr val="000000"/>
                </a:solidFill>
                <a:effectLst/>
                <a:uFillTx/>
                <a:latin typeface="DM Serif Display"/>
                <a:ea typeface="DM Serif Display"/>
              </a:rPr>
              <a:t>Solución</a:t>
            </a:r>
            <a:endParaRPr lang="es-AR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7"/>
          <p:cNvSpPr/>
          <p:nvPr/>
        </p:nvSpPr>
        <p:spPr>
          <a:xfrm>
            <a:off x="1541160" y="6004080"/>
            <a:ext cx="4276080" cy="16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479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Interfaz cómoda e intuitiva para principiantes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8"/>
          <p:cNvSpPr/>
          <p:nvPr/>
        </p:nvSpPr>
        <p:spPr>
          <a:xfrm>
            <a:off x="7005600" y="6004080"/>
            <a:ext cx="4276080" cy="16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479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Enfocado en aspecto didáctico para aprender mientras se utiliza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9"/>
          <p:cNvSpPr/>
          <p:nvPr/>
        </p:nvSpPr>
        <p:spPr>
          <a:xfrm>
            <a:off x="12470040" y="6004080"/>
            <a:ext cx="4276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20"/>
          <p:cNvSpPr/>
          <p:nvPr/>
        </p:nvSpPr>
        <p:spPr>
          <a:xfrm>
            <a:off x="12470040" y="6004080"/>
            <a:ext cx="4276080" cy="22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479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Visualización de información relacionada al contenido de la imagen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AutoShape 3"/>
          <p:cNvSpPr/>
          <p:nvPr/>
        </p:nvSpPr>
        <p:spPr>
          <a:xfrm>
            <a:off x="1166040" y="1028520"/>
            <a:ext cx="687600" cy="360"/>
          </a:xfrm>
          <a:prstGeom prst="line">
            <a:avLst/>
          </a:prstGeom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1166400" y="1233720"/>
            <a:ext cx="10398600" cy="10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8960"/>
              </a:lnSpc>
            </a:pPr>
            <a:r>
              <a:rPr lang="en-US" sz="6400" b="0" u="none" strike="noStrike">
                <a:solidFill>
                  <a:srgbClr val="000000"/>
                </a:solidFill>
                <a:effectLst/>
                <a:uFillTx/>
                <a:latin typeface="DM Serif Display"/>
                <a:ea typeface="DM Serif Display"/>
              </a:rPr>
              <a:t>Roadmap</a:t>
            </a:r>
            <a:endParaRPr lang="es-AR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2118960" y="2928600"/>
            <a:ext cx="344016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11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Open Sauce Bold"/>
                <a:ea typeface="Open Sauce Bold"/>
              </a:rPr>
              <a:t>Entrega 1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2118960" y="3679200"/>
            <a:ext cx="3236400" cy="14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41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Reforzar aspectos didacticos de la aplicación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AutoShape 7"/>
          <p:cNvSpPr/>
          <p:nvPr/>
        </p:nvSpPr>
        <p:spPr>
          <a:xfrm>
            <a:off x="1175760" y="5715000"/>
            <a:ext cx="15936120" cy="360"/>
          </a:xfrm>
          <a:prstGeom prst="line">
            <a:avLst/>
          </a:prstGeom>
          <a:ln w="381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AutoShape 8"/>
          <p:cNvSpPr/>
          <p:nvPr/>
        </p:nvSpPr>
        <p:spPr>
          <a:xfrm>
            <a:off x="1747080" y="3785400"/>
            <a:ext cx="360" cy="1940760"/>
          </a:xfrm>
          <a:prstGeom prst="line">
            <a:avLst/>
          </a:prstGeom>
          <a:ln cap="rnd" w="38100">
            <a:solidFill>
              <a:srgbClr val="000000"/>
            </a:solidFill>
            <a:round/>
            <a:headEnd len="lg" type="oval" w="lg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5720400" y="7020000"/>
            <a:ext cx="344016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11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Open Sauce Bold"/>
                <a:ea typeface="Open Sauce Bold"/>
              </a:rPr>
              <a:t>Entrega 2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5720400" y="7770600"/>
            <a:ext cx="323640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41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Cruzar información con catalogos Vizier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AutoShape 11"/>
          <p:cNvSpPr/>
          <p:nvPr/>
        </p:nvSpPr>
        <p:spPr>
          <a:xfrm>
            <a:off x="5348520" y="5684400"/>
            <a:ext cx="360" cy="1940760"/>
          </a:xfrm>
          <a:prstGeom prst="line">
            <a:avLst/>
          </a:prstGeom>
          <a:ln cap="rnd" w="38100">
            <a:solidFill>
              <a:srgbClr val="000000"/>
            </a:solidFill>
            <a:round/>
            <a:tailEnd len="lg" type="oval" w="lg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2"/>
          <p:cNvSpPr/>
          <p:nvPr/>
        </p:nvSpPr>
        <p:spPr>
          <a:xfrm>
            <a:off x="10079280" y="2928600"/>
            <a:ext cx="344016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11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Open Sauce Bold"/>
                <a:ea typeface="Open Sauce Bold"/>
              </a:rPr>
              <a:t>Entrega 3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10079280" y="3582360"/>
            <a:ext cx="3236400" cy="14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41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Cruzar información con Zimbad y otras fuentes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AutoShape 14"/>
          <p:cNvSpPr/>
          <p:nvPr/>
        </p:nvSpPr>
        <p:spPr>
          <a:xfrm>
            <a:off x="9707400" y="3785400"/>
            <a:ext cx="360" cy="1940760"/>
          </a:xfrm>
          <a:prstGeom prst="line">
            <a:avLst/>
          </a:prstGeom>
          <a:ln cap="rnd" w="38100">
            <a:solidFill>
              <a:srgbClr val="000000"/>
            </a:solidFill>
            <a:round/>
            <a:headEnd len="lg" type="oval" w="lg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5"/>
          <p:cNvSpPr/>
          <p:nvPr/>
        </p:nvSpPr>
        <p:spPr>
          <a:xfrm>
            <a:off x="13680720" y="7020000"/>
            <a:ext cx="344016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511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Open Sauce Bold"/>
                <a:ea typeface="Open Sauce Bold"/>
              </a:rPr>
              <a:t>Entrega 4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AutoShape 16"/>
          <p:cNvSpPr/>
          <p:nvPr/>
        </p:nvSpPr>
        <p:spPr>
          <a:xfrm>
            <a:off x="13308840" y="5684400"/>
            <a:ext cx="360" cy="1940760"/>
          </a:xfrm>
          <a:prstGeom prst="line">
            <a:avLst/>
          </a:prstGeom>
          <a:ln cap="rnd" w="38100">
            <a:solidFill>
              <a:srgbClr val="000000"/>
            </a:solidFill>
            <a:round/>
            <a:tailEnd len="lg" type="oval" w="lg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13680720" y="7770600"/>
            <a:ext cx="3236400" cy="14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41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Tentativo: Integración con telescopio Nancy Grace Roman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AutoShape 3"/>
          <p:cNvSpPr/>
          <p:nvPr/>
        </p:nvSpPr>
        <p:spPr>
          <a:xfrm>
            <a:off x="1166040" y="1028520"/>
            <a:ext cx="687600" cy="360"/>
          </a:xfrm>
          <a:prstGeom prst="line">
            <a:avLst/>
          </a:prstGeom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1166400" y="1233720"/>
            <a:ext cx="7444440" cy="10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8960"/>
              </a:lnSpc>
            </a:pPr>
            <a:r>
              <a:rPr lang="en-US" sz="6400" b="0" u="none" strike="noStrike">
                <a:solidFill>
                  <a:srgbClr val="000000"/>
                </a:solidFill>
                <a:effectLst/>
                <a:uFillTx/>
                <a:latin typeface="DM Serif Display"/>
                <a:ea typeface="DM Serif Display"/>
              </a:rPr>
              <a:t>Riesgos</a:t>
            </a:r>
            <a:endParaRPr lang="es-AR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5"/>
          <p:cNvSpPr/>
          <p:nvPr/>
        </p:nvSpPr>
        <p:spPr>
          <a:xfrm>
            <a:off x="1166400" y="9142200"/>
            <a:ext cx="3449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pc="159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Open Sauce"/>
                <a:ea typeface="Open Sauce"/>
              </a:rPr>
              <a:t>STUDIO SHODWE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1175760" y="3642120"/>
            <a:ext cx="48330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41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Open Sauce Bold"/>
                <a:ea typeface="Open Sauce Bold"/>
              </a:rPr>
              <a:t>Cruzado de información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1166400" y="4852440"/>
            <a:ext cx="48423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388800" lvl="1" indent="-194400" defTabSz="914400">
              <a:lnSpc>
                <a:spcPts val="288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Muchos catálogos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8800" lvl="1" indent="-194400" defTabSz="914400">
              <a:lnSpc>
                <a:spcPts val="288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Información dispersa en diferentes fuentes (Gaia, Zimbad, Vizier)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8800" lvl="1" indent="-194400" defTabSz="914400">
              <a:lnSpc>
                <a:spcPts val="288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Catálogos similares no organizan información de la misma manera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6732000" y="3642120"/>
            <a:ext cx="483300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41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Open Sauce Bold"/>
                <a:ea typeface="Open Sauce Bold"/>
              </a:rPr>
              <a:t>Algoritmos lentos 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41"/>
              </a:lnSpc>
              <a:tabLst>
                <a:tab pos="0" algn="l"/>
              </a:tabLst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6722280" y="4852440"/>
            <a:ext cx="48423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388800" lvl="1" indent="-194400" defTabSz="914400">
              <a:lnSpc>
                <a:spcPts val="288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Los fits no tienen misma calidad, por lo que suelen requerir parámetros específicos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8800" lvl="1" indent="-194400" defTabSz="914400">
              <a:lnSpc>
                <a:spcPts val="288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Cruce de información es lenta por la cantidad de fuentes diferentes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12287880" y="3642120"/>
            <a:ext cx="4833000" cy="9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3841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Open Sauce Bold"/>
                <a:ea typeface="Open Sauce Bold"/>
              </a:rPr>
              <a:t>Cuerpos específicos no tienen papers dedicados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12278520" y="4852440"/>
            <a:ext cx="484236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388800" lvl="1" indent="-194400" defTabSz="914400">
              <a:lnSpc>
                <a:spcPts val="288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Open Sauce"/>
                <a:ea typeface="Open Sauce"/>
              </a:rPr>
              <a:t>Los cuerpos detectados por el algoritmo no siempre tienen trabajos asociados o dedicados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3"/>
          <p:cNvSpPr/>
          <p:nvPr/>
        </p:nvSpPr>
        <p:spPr>
          <a:xfrm>
            <a:off x="4485960" y="2762280"/>
            <a:ext cx="9315720" cy="24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0160"/>
              </a:lnSpc>
            </a:pPr>
            <a:r>
              <a:rPr lang="en-US" sz="14400" b="0" u="none" strike="noStrike">
                <a:solidFill>
                  <a:srgbClr val="000000"/>
                </a:solidFill>
                <a:effectLst/>
                <a:uFillTx/>
                <a:latin typeface="DM Serif Display"/>
                <a:ea typeface="DM Serif Display"/>
              </a:rPr>
              <a:t>DEMO</a:t>
            </a:r>
            <a:endParaRPr lang="es-AR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Freeform 2"/>
          <p:cNvSpPr/>
          <p:nvPr/>
        </p:nvSpPr>
        <p:spPr>
          <a:xfrm>
            <a:off x="0" y="0"/>
            <a:ext cx="18287280" cy="10286280"/>
          </a:xfrm>
          <a:custGeom>
            <a:avLst/>
            <a:gdLst>
              <a:gd name="textAreaLeft" fmla="*/ 0 w 18287280"/>
              <a:gd name="textAreaRight" fmla="*/ 18288000 w 18287280"/>
              <a:gd name="textAreaTop" fmla="*/ 0 h 10286280"/>
              <a:gd name="textAreaBottom" fmla="*/ 10287000 h 1028628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5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4485960" y="2762280"/>
            <a:ext cx="9315720" cy="24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0160"/>
              </a:lnSpc>
            </a:pPr>
            <a:r>
              <a:rPr lang="en-US" sz="14400" b="0" u="none" strike="noStrike">
                <a:solidFill>
                  <a:srgbClr val="000000"/>
                </a:solidFill>
                <a:effectLst/>
                <a:uFillTx/>
                <a:latin typeface="DM Serif Display"/>
                <a:ea typeface="DM Serif Display"/>
              </a:rPr>
              <a:t>Preguntas</a:t>
            </a:r>
            <a:endParaRPr lang="es-AR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DAHU7QkWVKw</dc:identifier>
  <dc:language>es-AR</dc:language>
  <cp:lastModifiedBy/>
  <dcterms:modified xsi:type="dcterms:W3CDTF">2026-09-11T20:52:20Z</dcterms:modified>
  <cp:revision>3</cp:revision>
  <dc:subject/>
  <dc:title>Black and White Simple Minimalist Pitch Deck Marketing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